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3" r:id="rId2"/>
    <p:sldId id="264" r:id="rId3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6DADCB-321D-429F-AAC5-1F48975B0F4B}" v="105" dt="2026-01-26T23:02:59.4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272" y="-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2.xml"/><Relationship Id="rId5" Type="http://schemas.openxmlformats.org/officeDocument/2006/relationships/viewProps" Target="viewProps.xml"/><Relationship Id="rId10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annessen, Sophia (DFO/MPO)" userId="442d23c4-5564-490d-82be-ff28401f613a" providerId="ADAL" clId="{5A6DADCB-321D-429F-AAC5-1F48975B0F4B}"/>
    <pc:docChg chg="undo custSel addSld delSld modSld">
      <pc:chgData name="Johannessen, Sophia (DFO/MPO)" userId="442d23c4-5564-490d-82be-ff28401f613a" providerId="ADAL" clId="{5A6DADCB-321D-429F-AAC5-1F48975B0F4B}" dt="2026-01-26T23:33:54.853" v="1383" actId="20577"/>
      <pc:docMkLst>
        <pc:docMk/>
      </pc:docMkLst>
      <pc:sldChg chg="addSp modSp del mod">
        <pc:chgData name="Johannessen, Sophia (DFO/MPO)" userId="442d23c4-5564-490d-82be-ff28401f613a" providerId="ADAL" clId="{5A6DADCB-321D-429F-AAC5-1F48975B0F4B}" dt="2026-01-26T23:10:57.824" v="207" actId="47"/>
        <pc:sldMkLst>
          <pc:docMk/>
          <pc:sldMk cId="1993336179" sldId="256"/>
        </pc:sldMkLst>
        <pc:graphicFrameChg chg="add mod">
          <ac:chgData name="Johannessen, Sophia (DFO/MPO)" userId="442d23c4-5564-490d-82be-ff28401f613a" providerId="ADAL" clId="{5A6DADCB-321D-429F-AAC5-1F48975B0F4B}" dt="2026-01-26T22:32:13.470" v="23" actId="20577"/>
          <ac:graphicFrameMkLst>
            <pc:docMk/>
            <pc:sldMk cId="1993336179" sldId="256"/>
            <ac:graphicFrameMk id="4" creationId="{C2617721-0D9A-A18D-3AF7-0F9E1A703B7D}"/>
          </ac:graphicFrameMkLst>
        </pc:graphicFrameChg>
        <pc:graphicFrameChg chg="add mod">
          <ac:chgData name="Johannessen, Sophia (DFO/MPO)" userId="442d23c4-5564-490d-82be-ff28401f613a" providerId="ADAL" clId="{5A6DADCB-321D-429F-AAC5-1F48975B0F4B}" dt="2026-01-26T22:33:26.864" v="24" actId="20577"/>
          <ac:graphicFrameMkLst>
            <pc:docMk/>
            <pc:sldMk cId="1993336179" sldId="256"/>
            <ac:graphicFrameMk id="5" creationId="{D824684B-2697-EBF6-372F-ADE4653E7042}"/>
          </ac:graphicFrameMkLst>
        </pc:graphicFrameChg>
      </pc:sldChg>
      <pc:sldChg chg="addSp delSp modSp new mod">
        <pc:chgData name="Johannessen, Sophia (DFO/MPO)" userId="442d23c4-5564-490d-82be-ff28401f613a" providerId="ADAL" clId="{5A6DADCB-321D-429F-AAC5-1F48975B0F4B}" dt="2026-01-26T23:33:54.853" v="1383" actId="20577"/>
        <pc:sldMkLst>
          <pc:docMk/>
          <pc:sldMk cId="323531859" sldId="264"/>
        </pc:sldMkLst>
        <pc:spChg chg="del">
          <ac:chgData name="Johannessen, Sophia (DFO/MPO)" userId="442d23c4-5564-490d-82be-ff28401f613a" providerId="ADAL" clId="{5A6DADCB-321D-429F-AAC5-1F48975B0F4B}" dt="2026-01-26T22:54:12.363" v="26" actId="478"/>
          <ac:spMkLst>
            <pc:docMk/>
            <pc:sldMk cId="323531859" sldId="264"/>
            <ac:spMk id="2" creationId="{8F5A0BE3-63C1-1859-A761-946310EC93E3}"/>
          </ac:spMkLst>
        </pc:spChg>
        <pc:spChg chg="add del mod">
          <ac:chgData name="Johannessen, Sophia (DFO/MPO)" userId="442d23c4-5564-490d-82be-ff28401f613a" providerId="ADAL" clId="{5A6DADCB-321D-429F-AAC5-1F48975B0F4B}" dt="2026-01-26T23:01:03.971" v="74" actId="478"/>
          <ac:spMkLst>
            <pc:docMk/>
            <pc:sldMk cId="323531859" sldId="264"/>
            <ac:spMk id="5" creationId="{1B080CDC-C545-E4CE-48DC-F56ECD73F5E7}"/>
          </ac:spMkLst>
        </pc:spChg>
        <pc:spChg chg="add mod topLvl">
          <ac:chgData name="Johannessen, Sophia (DFO/MPO)" userId="442d23c4-5564-490d-82be-ff28401f613a" providerId="ADAL" clId="{5A6DADCB-321D-429F-AAC5-1F48975B0F4B}" dt="2026-01-26T23:18:28.234" v="997" actId="338"/>
          <ac:spMkLst>
            <pc:docMk/>
            <pc:sldMk cId="323531859" sldId="264"/>
            <ac:spMk id="7" creationId="{E2FC4599-4095-BE35-3C5C-5D9EEF1F0E55}"/>
          </ac:spMkLst>
        </pc:spChg>
        <pc:spChg chg="add mod">
          <ac:chgData name="Johannessen, Sophia (DFO/MPO)" userId="442d23c4-5564-490d-82be-ff28401f613a" providerId="ADAL" clId="{5A6DADCB-321D-429F-AAC5-1F48975B0F4B}" dt="2026-01-26T23:33:54.853" v="1383" actId="20577"/>
          <ac:spMkLst>
            <pc:docMk/>
            <pc:sldMk cId="323531859" sldId="264"/>
            <ac:spMk id="9" creationId="{8CB98511-4AE3-EFD6-AD53-3DE5754EA625}"/>
          </ac:spMkLst>
        </pc:spChg>
        <pc:spChg chg="add mod">
          <ac:chgData name="Johannessen, Sophia (DFO/MPO)" userId="442d23c4-5564-490d-82be-ff28401f613a" providerId="ADAL" clId="{5A6DADCB-321D-429F-AAC5-1F48975B0F4B}" dt="2026-01-26T23:19:29.352" v="1009" actId="554"/>
          <ac:spMkLst>
            <pc:docMk/>
            <pc:sldMk cId="323531859" sldId="264"/>
            <ac:spMk id="11" creationId="{629F7C9E-E417-ECA5-6589-5A719D5D0E58}"/>
          </ac:spMkLst>
        </pc:spChg>
        <pc:spChg chg="add mod">
          <ac:chgData name="Johannessen, Sophia (DFO/MPO)" userId="442d23c4-5564-490d-82be-ff28401f613a" providerId="ADAL" clId="{5A6DADCB-321D-429F-AAC5-1F48975B0F4B}" dt="2026-01-26T23:19:29.352" v="1009" actId="554"/>
          <ac:spMkLst>
            <pc:docMk/>
            <pc:sldMk cId="323531859" sldId="264"/>
            <ac:spMk id="12" creationId="{B6C3D706-3E33-7DFC-A50A-072AC805503D}"/>
          </ac:spMkLst>
        </pc:spChg>
        <pc:grpChg chg="add del mod">
          <ac:chgData name="Johannessen, Sophia (DFO/MPO)" userId="442d23c4-5564-490d-82be-ff28401f613a" providerId="ADAL" clId="{5A6DADCB-321D-429F-AAC5-1F48975B0F4B}" dt="2026-01-26T23:18:16.447" v="995" actId="165"/>
          <ac:grpSpMkLst>
            <pc:docMk/>
            <pc:sldMk cId="323531859" sldId="264"/>
            <ac:grpSpMk id="8" creationId="{11805AD6-898A-C615-CE20-5C0E69B21DAF}"/>
          </ac:grpSpMkLst>
        </pc:grpChg>
        <pc:grpChg chg="add mod">
          <ac:chgData name="Johannessen, Sophia (DFO/MPO)" userId="442d23c4-5564-490d-82be-ff28401f613a" providerId="ADAL" clId="{5A6DADCB-321D-429F-AAC5-1F48975B0F4B}" dt="2026-01-26T23:18:28.234" v="997" actId="338"/>
          <ac:grpSpMkLst>
            <pc:docMk/>
            <pc:sldMk cId="323531859" sldId="264"/>
            <ac:grpSpMk id="10" creationId="{86D508A0-C972-5956-BDFA-2DBEBCB0F8AE}"/>
          </ac:grpSpMkLst>
        </pc:grpChg>
        <pc:graphicFrameChg chg="add mod topLvl">
          <ac:chgData name="Johannessen, Sophia (DFO/MPO)" userId="442d23c4-5564-490d-82be-ff28401f613a" providerId="ADAL" clId="{5A6DADCB-321D-429F-AAC5-1F48975B0F4B}" dt="2026-01-26T23:18:28.234" v="997" actId="338"/>
          <ac:graphicFrameMkLst>
            <pc:docMk/>
            <pc:sldMk cId="323531859" sldId="264"/>
            <ac:graphicFrameMk id="3" creationId="{C434D50E-73B8-204F-176F-47AF14E466AE}"/>
          </ac:graphicFrameMkLst>
        </pc:graphicFrameChg>
        <pc:graphicFrameChg chg="add mod topLvl">
          <ac:chgData name="Johannessen, Sophia (DFO/MPO)" userId="442d23c4-5564-490d-82be-ff28401f613a" providerId="ADAL" clId="{5A6DADCB-321D-429F-AAC5-1F48975B0F4B}" dt="2026-01-26T23:18:28.234" v="997" actId="338"/>
          <ac:graphicFrameMkLst>
            <pc:docMk/>
            <pc:sldMk cId="323531859" sldId="264"/>
            <ac:graphicFrameMk id="4" creationId="{A6E04E14-5BA4-4538-89E7-5825B4F6CF75}"/>
          </ac:graphicFrameMkLst>
        </pc:graphicFrameChg>
        <pc:graphicFrameChg chg="add mod">
          <ac:chgData name="Johannessen, Sophia (DFO/MPO)" userId="442d23c4-5564-490d-82be-ff28401f613a" providerId="ADAL" clId="{5A6DADCB-321D-429F-AAC5-1F48975B0F4B}" dt="2026-01-26T23:07:49.965" v="131"/>
          <ac:graphicFrameMkLst>
            <pc:docMk/>
            <pc:sldMk cId="323531859" sldId="264"/>
            <ac:graphicFrameMk id="6" creationId="{C434D50E-73B8-204F-176F-47AF14E466AE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/>
              <a:t>Roscoe Inlet</a:t>
            </a:r>
          </a:p>
        </c:rich>
      </c:tx>
      <c:layout>
        <c:manualLayout>
          <c:xMode val="edge"/>
          <c:yMode val="edge"/>
          <c:x val="0.25965116279069761"/>
          <c:y val="3.4324252171241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456853140450468"/>
          <c:y val="0.27503515758375285"/>
          <c:w val="0.40108473722761401"/>
          <c:h val="0.69702886862876434"/>
        </c:manualLayout>
      </c:layout>
      <c:scatterChart>
        <c:scatterStyle val="lineMarker"/>
        <c:varyColors val="0"/>
        <c:ser>
          <c:idx val="0"/>
          <c:order val="0"/>
          <c:tx>
            <c:strRef>
              <c:f>Inlets_isotopes!$V$10</c:f>
              <c:strCache>
                <c:ptCount val="1"/>
                <c:pt idx="0">
                  <c:v>MarBloom rate (gC/m2/yr)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B050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Inlets_isotopes!$V$11:$V$31</c:f>
              <c:numCache>
                <c:formatCode>0.00</c:formatCode>
                <c:ptCount val="21"/>
                <c:pt idx="0">
                  <c:v>8.4314435209024072</c:v>
                </c:pt>
                <c:pt idx="1">
                  <c:v>8.4591425512059768</c:v>
                </c:pt>
                <c:pt idx="2">
                  <c:v>9.3080784272070023</c:v>
                </c:pt>
                <c:pt idx="3">
                  <c:v>9.0816298513528633</c:v>
                </c:pt>
                <c:pt idx="4">
                  <c:v>8.9894246518601317</c:v>
                </c:pt>
                <c:pt idx="5">
                  <c:v>9.2864346036085816</c:v>
                </c:pt>
                <c:pt idx="6">
                  <c:v>9.2123827064427601</c:v>
                </c:pt>
                <c:pt idx="7">
                  <c:v>7.8992034528323858</c:v>
                </c:pt>
                <c:pt idx="8">
                  <c:v>9.2648296019247631</c:v>
                </c:pt>
                <c:pt idx="9">
                  <c:v>9.3141684252090986</c:v>
                </c:pt>
                <c:pt idx="10">
                  <c:v>8.8583296709501376</c:v>
                </c:pt>
                <c:pt idx="11">
                  <c:v>9.126125727496591</c:v>
                </c:pt>
                <c:pt idx="12">
                  <c:v>8.7461245910369882</c:v>
                </c:pt>
                <c:pt idx="13">
                  <c:v>8.2940712329257149</c:v>
                </c:pt>
                <c:pt idx="14">
                  <c:v>9.2912229628610561</c:v>
                </c:pt>
                <c:pt idx="15">
                  <c:v>8.4292434283316773</c:v>
                </c:pt>
                <c:pt idx="16">
                  <c:v>8.9320685054560816</c:v>
                </c:pt>
                <c:pt idx="17">
                  <c:v>8.8425275061273307</c:v>
                </c:pt>
                <c:pt idx="18">
                  <c:v>8.7683586675589389</c:v>
                </c:pt>
                <c:pt idx="19">
                  <c:v>7.3980126597857669</c:v>
                </c:pt>
                <c:pt idx="20">
                  <c:v>8.3296109760081407</c:v>
                </c:pt>
              </c:numCache>
            </c:numRef>
          </c:xVal>
          <c:yVal>
            <c:numRef>
              <c:f>Inlets_isotopes!$Y$11:$Y$31</c:f>
              <c:numCache>
                <c:formatCode>General</c:formatCode>
                <c:ptCount val="21"/>
                <c:pt idx="0">
                  <c:v>0.5</c:v>
                </c:pt>
                <c:pt idx="1">
                  <c:v>1.5</c:v>
                </c:pt>
                <c:pt idx="2">
                  <c:v>2.5</c:v>
                </c:pt>
                <c:pt idx="3">
                  <c:v>3.5</c:v>
                </c:pt>
                <c:pt idx="4">
                  <c:v>4.5</c:v>
                </c:pt>
                <c:pt idx="5">
                  <c:v>5.5</c:v>
                </c:pt>
                <c:pt idx="6">
                  <c:v>6.5</c:v>
                </c:pt>
                <c:pt idx="7">
                  <c:v>7.5</c:v>
                </c:pt>
                <c:pt idx="8">
                  <c:v>8.5</c:v>
                </c:pt>
                <c:pt idx="9">
                  <c:v>9.5</c:v>
                </c:pt>
                <c:pt idx="10">
                  <c:v>11</c:v>
                </c:pt>
                <c:pt idx="11">
                  <c:v>13</c:v>
                </c:pt>
                <c:pt idx="12">
                  <c:v>15</c:v>
                </c:pt>
                <c:pt idx="13">
                  <c:v>17</c:v>
                </c:pt>
                <c:pt idx="14">
                  <c:v>19</c:v>
                </c:pt>
                <c:pt idx="15">
                  <c:v>22.5</c:v>
                </c:pt>
                <c:pt idx="16">
                  <c:v>27.5</c:v>
                </c:pt>
                <c:pt idx="17">
                  <c:v>32.5</c:v>
                </c:pt>
                <c:pt idx="18">
                  <c:v>37.5</c:v>
                </c:pt>
                <c:pt idx="19">
                  <c:v>42.5</c:v>
                </c:pt>
                <c:pt idx="20">
                  <c:v>47.5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513-482D-86FF-8281A4FD6937}"/>
            </c:ext>
          </c:extLst>
        </c:ser>
        <c:ser>
          <c:idx val="1"/>
          <c:order val="1"/>
          <c:tx>
            <c:strRef>
              <c:f>Inlets_isotopes!$W$10</c:f>
              <c:strCache>
                <c:ptCount val="1"/>
                <c:pt idx="0">
                  <c:v>MarNonBloom rate (gC/m2/yr)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12700">
                <a:solidFill>
                  <a:schemeClr val="accent1">
                    <a:lumMod val="75000"/>
                  </a:schemeClr>
                </a:solidFill>
              </a:ln>
              <a:effectLst/>
            </c:spPr>
          </c:marker>
          <c:xVal>
            <c:numRef>
              <c:f>Inlets_isotopes!$W$11:$W$31</c:f>
              <c:numCache>
                <c:formatCode>0.00</c:formatCode>
                <c:ptCount val="21"/>
                <c:pt idx="0">
                  <c:v>6.6361317107029203</c:v>
                </c:pt>
                <c:pt idx="1">
                  <c:v>6.4756923211095669</c:v>
                </c:pt>
                <c:pt idx="2">
                  <c:v>5.986384359022253</c:v>
                </c:pt>
                <c:pt idx="3">
                  <c:v>6.2410584532491589</c:v>
                </c:pt>
                <c:pt idx="4">
                  <c:v>6.5789215308970359</c:v>
                </c:pt>
                <c:pt idx="5">
                  <c:v>6.1939883351682195</c:v>
                </c:pt>
                <c:pt idx="6">
                  <c:v>6.0839963079641333</c:v>
                </c:pt>
                <c:pt idx="7">
                  <c:v>4.2625592000005232</c:v>
                </c:pt>
                <c:pt idx="8">
                  <c:v>5.9349348242661604</c:v>
                </c:pt>
                <c:pt idx="9">
                  <c:v>5.7318212358001439</c:v>
                </c:pt>
                <c:pt idx="10">
                  <c:v>5.4636287700232478</c:v>
                </c:pt>
                <c:pt idx="11">
                  <c:v>5.282041599855833</c:v>
                </c:pt>
                <c:pt idx="12">
                  <c:v>5.5976200835911447</c:v>
                </c:pt>
                <c:pt idx="13">
                  <c:v>5.6637514870773504</c:v>
                </c:pt>
                <c:pt idx="14">
                  <c:v>5.0534665172612083</c:v>
                </c:pt>
                <c:pt idx="15">
                  <c:v>5.4886306173561801</c:v>
                </c:pt>
                <c:pt idx="16">
                  <c:v>5.230570267973345</c:v>
                </c:pt>
                <c:pt idx="17">
                  <c:v>5.4470733053005791</c:v>
                </c:pt>
                <c:pt idx="18">
                  <c:v>5.2602513710048076</c:v>
                </c:pt>
                <c:pt idx="19">
                  <c:v>4.7257726673806149</c:v>
                </c:pt>
                <c:pt idx="20">
                  <c:v>5.3006317744443017</c:v>
                </c:pt>
              </c:numCache>
            </c:numRef>
          </c:xVal>
          <c:yVal>
            <c:numRef>
              <c:f>Inlets_isotopes!$Y$11:$Y$31</c:f>
              <c:numCache>
                <c:formatCode>General</c:formatCode>
                <c:ptCount val="21"/>
                <c:pt idx="0">
                  <c:v>0.5</c:v>
                </c:pt>
                <c:pt idx="1">
                  <c:v>1.5</c:v>
                </c:pt>
                <c:pt idx="2">
                  <c:v>2.5</c:v>
                </c:pt>
                <c:pt idx="3">
                  <c:v>3.5</c:v>
                </c:pt>
                <c:pt idx="4">
                  <c:v>4.5</c:v>
                </c:pt>
                <c:pt idx="5">
                  <c:v>5.5</c:v>
                </c:pt>
                <c:pt idx="6">
                  <c:v>6.5</c:v>
                </c:pt>
                <c:pt idx="7">
                  <c:v>7.5</c:v>
                </c:pt>
                <c:pt idx="8">
                  <c:v>8.5</c:v>
                </c:pt>
                <c:pt idx="9">
                  <c:v>9.5</c:v>
                </c:pt>
                <c:pt idx="10">
                  <c:v>11</c:v>
                </c:pt>
                <c:pt idx="11">
                  <c:v>13</c:v>
                </c:pt>
                <c:pt idx="12">
                  <c:v>15</c:v>
                </c:pt>
                <c:pt idx="13">
                  <c:v>17</c:v>
                </c:pt>
                <c:pt idx="14">
                  <c:v>19</c:v>
                </c:pt>
                <c:pt idx="15">
                  <c:v>22.5</c:v>
                </c:pt>
                <c:pt idx="16">
                  <c:v>27.5</c:v>
                </c:pt>
                <c:pt idx="17">
                  <c:v>32.5</c:v>
                </c:pt>
                <c:pt idx="18">
                  <c:v>37.5</c:v>
                </c:pt>
                <c:pt idx="19">
                  <c:v>42.5</c:v>
                </c:pt>
                <c:pt idx="20">
                  <c:v>47.5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513-482D-86FF-8281A4FD6937}"/>
            </c:ext>
          </c:extLst>
        </c:ser>
        <c:ser>
          <c:idx val="2"/>
          <c:order val="2"/>
          <c:tx>
            <c:strRef>
              <c:f>Inlets_isotopes!$X$10</c:f>
              <c:strCache>
                <c:ptCount val="1"/>
                <c:pt idx="0">
                  <c:v>TerrCrate (gC/m2/yr)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square"/>
            <c:size val="5"/>
            <c:spPr>
              <a:solidFill>
                <a:schemeClr val="accent3">
                  <a:lumMod val="75000"/>
                </a:schemeClr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Inlets_isotopes!$X$11:$X$31</c:f>
              <c:numCache>
                <c:formatCode>0.00</c:formatCode>
                <c:ptCount val="21"/>
                <c:pt idx="0">
                  <c:v>9.2181224802611279</c:v>
                </c:pt>
                <c:pt idx="1">
                  <c:v>9.4545531308931299</c:v>
                </c:pt>
                <c:pt idx="2">
                  <c:v>9.817742579404511</c:v>
                </c:pt>
                <c:pt idx="3">
                  <c:v>9.5638064020638236</c:v>
                </c:pt>
                <c:pt idx="4">
                  <c:v>9.338358573654201</c:v>
                </c:pt>
                <c:pt idx="5">
                  <c:v>9.384394985705022</c:v>
                </c:pt>
                <c:pt idx="6">
                  <c:v>9.3963816380649856</c:v>
                </c:pt>
                <c:pt idx="7">
                  <c:v>8.0344489042253837</c:v>
                </c:pt>
                <c:pt idx="8">
                  <c:v>9.174660833084106</c:v>
                </c:pt>
                <c:pt idx="9">
                  <c:v>9.2828594311937618</c:v>
                </c:pt>
                <c:pt idx="10">
                  <c:v>8.663239779630624</c:v>
                </c:pt>
                <c:pt idx="11">
                  <c:v>8.0646756987372861</c:v>
                </c:pt>
                <c:pt idx="12">
                  <c:v>7.8374776043349605</c:v>
                </c:pt>
                <c:pt idx="13">
                  <c:v>7.4076534005055326</c:v>
                </c:pt>
                <c:pt idx="14">
                  <c:v>7.4004133066283941</c:v>
                </c:pt>
                <c:pt idx="15">
                  <c:v>7.0965352262592623</c:v>
                </c:pt>
                <c:pt idx="16">
                  <c:v>6.981181002611458</c:v>
                </c:pt>
                <c:pt idx="17">
                  <c:v>7.0160695555585599</c:v>
                </c:pt>
                <c:pt idx="18">
                  <c:v>7.1949654871521629</c:v>
                </c:pt>
                <c:pt idx="19">
                  <c:v>5.9076722140479694</c:v>
                </c:pt>
                <c:pt idx="20">
                  <c:v>6.6403936578106997</c:v>
                </c:pt>
              </c:numCache>
            </c:numRef>
          </c:xVal>
          <c:yVal>
            <c:numRef>
              <c:f>Inlets_isotopes!$Y$11:$Y$31</c:f>
              <c:numCache>
                <c:formatCode>General</c:formatCode>
                <c:ptCount val="21"/>
                <c:pt idx="0">
                  <c:v>0.5</c:v>
                </c:pt>
                <c:pt idx="1">
                  <c:v>1.5</c:v>
                </c:pt>
                <c:pt idx="2">
                  <c:v>2.5</c:v>
                </c:pt>
                <c:pt idx="3">
                  <c:v>3.5</c:v>
                </c:pt>
                <c:pt idx="4">
                  <c:v>4.5</c:v>
                </c:pt>
                <c:pt idx="5">
                  <c:v>5.5</c:v>
                </c:pt>
                <c:pt idx="6">
                  <c:v>6.5</c:v>
                </c:pt>
                <c:pt idx="7">
                  <c:v>7.5</c:v>
                </c:pt>
                <c:pt idx="8">
                  <c:v>8.5</c:v>
                </c:pt>
                <c:pt idx="9">
                  <c:v>9.5</c:v>
                </c:pt>
                <c:pt idx="10">
                  <c:v>11</c:v>
                </c:pt>
                <c:pt idx="11">
                  <c:v>13</c:v>
                </c:pt>
                <c:pt idx="12">
                  <c:v>15</c:v>
                </c:pt>
                <c:pt idx="13">
                  <c:v>17</c:v>
                </c:pt>
                <c:pt idx="14">
                  <c:v>19</c:v>
                </c:pt>
                <c:pt idx="15">
                  <c:v>22.5</c:v>
                </c:pt>
                <c:pt idx="16">
                  <c:v>27.5</c:v>
                </c:pt>
                <c:pt idx="17">
                  <c:v>32.5</c:v>
                </c:pt>
                <c:pt idx="18">
                  <c:v>37.5</c:v>
                </c:pt>
                <c:pt idx="19">
                  <c:v>42.5</c:v>
                </c:pt>
                <c:pt idx="20">
                  <c:v>47.5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513-482D-86FF-8281A4FD69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481695"/>
        <c:axId val="101483135"/>
      </c:scatterChart>
      <c:valAx>
        <c:axId val="101481695"/>
        <c:scaling>
          <c:orientation val="minMax"/>
          <c:max val="10"/>
        </c:scaling>
        <c:delete val="0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 dirty="0"/>
                  <a:t>Carbon flux (</a:t>
                </a:r>
                <a:r>
                  <a:rPr lang="en-US" b="1" dirty="0" err="1"/>
                  <a:t>gC</a:t>
                </a:r>
                <a:r>
                  <a:rPr lang="en-US" b="1" dirty="0"/>
                  <a:t> m</a:t>
                </a:r>
                <a:r>
                  <a:rPr lang="en-US" b="1" strike="noStrike" baseline="30000" dirty="0"/>
                  <a:t>-2</a:t>
                </a:r>
                <a:r>
                  <a:rPr lang="en-US" b="1" dirty="0"/>
                  <a:t> yr</a:t>
                </a:r>
                <a:r>
                  <a:rPr lang="en-US" b="1" baseline="30000" dirty="0"/>
                  <a:t>-1</a:t>
                </a:r>
                <a:r>
                  <a:rPr lang="en-US" b="1" dirty="0"/>
                  <a:t>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cross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483135"/>
        <c:crosses val="autoZero"/>
        <c:crossBetween val="midCat"/>
      </c:valAx>
      <c:valAx>
        <c:axId val="101483135"/>
        <c:scaling>
          <c:orientation val="maxMin"/>
          <c:max val="4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Depth in core (cm)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cross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481695"/>
        <c:crosses val="autoZero"/>
        <c:crossBetween val="midCat"/>
        <c:majorUnit val="10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8533350119025818"/>
          <c:y val="0.35330135942657176"/>
          <c:w val="0.34199208020509064"/>
          <c:h val="0.4005270859790985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/>
              <a:t>Knight Inlet</a:t>
            </a:r>
          </a:p>
        </c:rich>
      </c:tx>
      <c:layout>
        <c:manualLayout>
          <c:xMode val="edge"/>
          <c:yMode val="edge"/>
          <c:x val="0.30052893451073559"/>
          <c:y val="5.053014017708853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Inlets_isotopes!$V$10</c:f>
              <c:strCache>
                <c:ptCount val="1"/>
                <c:pt idx="0">
                  <c:v>MarBloom rate (gC/m2/yr)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B050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Inlets_isotopes!$V$55:$V$73</c:f>
              <c:numCache>
                <c:formatCode>0.00</c:formatCode>
                <c:ptCount val="19"/>
                <c:pt idx="0">
                  <c:v>32.045460014107142</c:v>
                </c:pt>
                <c:pt idx="1">
                  <c:v>51.129763102279433</c:v>
                </c:pt>
                <c:pt idx="2">
                  <c:v>34.67552717914176</c:v>
                </c:pt>
                <c:pt idx="3">
                  <c:v>32.351188195473163</c:v>
                </c:pt>
                <c:pt idx="4">
                  <c:v>33.649483083222378</c:v>
                </c:pt>
                <c:pt idx="5">
                  <c:v>33.928246116216961</c:v>
                </c:pt>
                <c:pt idx="6">
                  <c:v>34.890481602548263</c:v>
                </c:pt>
                <c:pt idx="7">
                  <c:v>37.570818335108811</c:v>
                </c:pt>
                <c:pt idx="8">
                  <c:v>34.578598369164155</c:v>
                </c:pt>
                <c:pt idx="9">
                  <c:v>36.03975786190027</c:v>
                </c:pt>
                <c:pt idx="10">
                  <c:v>40.420397286464834</c:v>
                </c:pt>
                <c:pt idx="11">
                  <c:v>37.349667759700147</c:v>
                </c:pt>
                <c:pt idx="12">
                  <c:v>46.59636742296059</c:v>
                </c:pt>
                <c:pt idx="13">
                  <c:v>38.100278010739274</c:v>
                </c:pt>
                <c:pt idx="14">
                  <c:v>55.398928125844783</c:v>
                </c:pt>
                <c:pt idx="15">
                  <c:v>34.608745593894739</c:v>
                </c:pt>
                <c:pt idx="16">
                  <c:v>32.782419150278884</c:v>
                </c:pt>
                <c:pt idx="17">
                  <c:v>20.929250566917041</c:v>
                </c:pt>
                <c:pt idx="18">
                  <c:v>15.758033357473746</c:v>
                </c:pt>
              </c:numCache>
            </c:numRef>
          </c:xVal>
          <c:yVal>
            <c:numRef>
              <c:f>Inlets_isotopes!$Y$55:$Y$73</c:f>
              <c:numCache>
                <c:formatCode>General</c:formatCode>
                <c:ptCount val="19"/>
                <c:pt idx="0">
                  <c:v>0.5</c:v>
                </c:pt>
                <c:pt idx="1">
                  <c:v>1.5</c:v>
                </c:pt>
                <c:pt idx="2">
                  <c:v>2.5</c:v>
                </c:pt>
                <c:pt idx="3">
                  <c:v>3.5</c:v>
                </c:pt>
                <c:pt idx="4">
                  <c:v>4.5</c:v>
                </c:pt>
                <c:pt idx="5">
                  <c:v>5.5</c:v>
                </c:pt>
                <c:pt idx="6">
                  <c:v>6.5</c:v>
                </c:pt>
                <c:pt idx="7">
                  <c:v>7.5</c:v>
                </c:pt>
                <c:pt idx="8">
                  <c:v>8.5</c:v>
                </c:pt>
                <c:pt idx="9">
                  <c:v>9.5</c:v>
                </c:pt>
                <c:pt idx="10">
                  <c:v>11</c:v>
                </c:pt>
                <c:pt idx="11">
                  <c:v>13</c:v>
                </c:pt>
                <c:pt idx="12">
                  <c:v>15</c:v>
                </c:pt>
                <c:pt idx="13">
                  <c:v>17</c:v>
                </c:pt>
                <c:pt idx="14">
                  <c:v>19</c:v>
                </c:pt>
                <c:pt idx="15">
                  <c:v>22.5</c:v>
                </c:pt>
                <c:pt idx="16">
                  <c:v>27.5</c:v>
                </c:pt>
                <c:pt idx="17">
                  <c:v>32.5</c:v>
                </c:pt>
                <c:pt idx="18">
                  <c:v>37.5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938-43B5-83B5-A28C15DA12DB}"/>
            </c:ext>
          </c:extLst>
        </c:ser>
        <c:ser>
          <c:idx val="1"/>
          <c:order val="1"/>
          <c:tx>
            <c:strRef>
              <c:f>Inlets_isotopes!$W$10</c:f>
              <c:strCache>
                <c:ptCount val="1"/>
                <c:pt idx="0">
                  <c:v>MarNonBloom rate (gC/m2/yr)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12700">
                <a:solidFill>
                  <a:schemeClr val="accent1">
                    <a:lumMod val="75000"/>
                  </a:schemeClr>
                </a:solidFill>
              </a:ln>
              <a:effectLst/>
            </c:spPr>
          </c:marker>
          <c:xVal>
            <c:numRef>
              <c:f>Inlets_isotopes!$W$55:$W$73</c:f>
              <c:numCache>
                <c:formatCode>0.00</c:formatCode>
                <c:ptCount val="19"/>
                <c:pt idx="0">
                  <c:v>19.064748379207913</c:v>
                </c:pt>
                <c:pt idx="1">
                  <c:v>-11.804622405572635</c:v>
                </c:pt>
                <c:pt idx="2">
                  <c:v>9.7521810288619442</c:v>
                </c:pt>
                <c:pt idx="3">
                  <c:v>14.27573759796279</c:v>
                </c:pt>
                <c:pt idx="4">
                  <c:v>11.580787108458235</c:v>
                </c:pt>
                <c:pt idx="5">
                  <c:v>12.569703852407491</c:v>
                </c:pt>
                <c:pt idx="6">
                  <c:v>10.805167538636884</c:v>
                </c:pt>
                <c:pt idx="7">
                  <c:v>8.7435331180734117</c:v>
                </c:pt>
                <c:pt idx="8">
                  <c:v>10.036395810829394</c:v>
                </c:pt>
                <c:pt idx="9">
                  <c:v>5.790062513782904</c:v>
                </c:pt>
                <c:pt idx="10">
                  <c:v>1.1627946191748959</c:v>
                </c:pt>
                <c:pt idx="11">
                  <c:v>2.4459388499062391</c:v>
                </c:pt>
                <c:pt idx="12">
                  <c:v>-4.8096894778511743</c:v>
                </c:pt>
                <c:pt idx="13">
                  <c:v>7.2456891739315683</c:v>
                </c:pt>
                <c:pt idx="14">
                  <c:v>-19.645283413441692</c:v>
                </c:pt>
                <c:pt idx="15">
                  <c:v>6.483453876945541</c:v>
                </c:pt>
                <c:pt idx="16">
                  <c:v>8.8958903658624795</c:v>
                </c:pt>
                <c:pt idx="17">
                  <c:v>13.302964779005528</c:v>
                </c:pt>
                <c:pt idx="18">
                  <c:v>5.6537233927025001</c:v>
                </c:pt>
              </c:numCache>
            </c:numRef>
          </c:xVal>
          <c:yVal>
            <c:numRef>
              <c:f>Inlets_isotopes!$Y$55:$Y$73</c:f>
              <c:numCache>
                <c:formatCode>General</c:formatCode>
                <c:ptCount val="19"/>
                <c:pt idx="0">
                  <c:v>0.5</c:v>
                </c:pt>
                <c:pt idx="1">
                  <c:v>1.5</c:v>
                </c:pt>
                <c:pt idx="2">
                  <c:v>2.5</c:v>
                </c:pt>
                <c:pt idx="3">
                  <c:v>3.5</c:v>
                </c:pt>
                <c:pt idx="4">
                  <c:v>4.5</c:v>
                </c:pt>
                <c:pt idx="5">
                  <c:v>5.5</c:v>
                </c:pt>
                <c:pt idx="6">
                  <c:v>6.5</c:v>
                </c:pt>
                <c:pt idx="7">
                  <c:v>7.5</c:v>
                </c:pt>
                <c:pt idx="8">
                  <c:v>8.5</c:v>
                </c:pt>
                <c:pt idx="9">
                  <c:v>9.5</c:v>
                </c:pt>
                <c:pt idx="10">
                  <c:v>11</c:v>
                </c:pt>
                <c:pt idx="11">
                  <c:v>13</c:v>
                </c:pt>
                <c:pt idx="12">
                  <c:v>15</c:v>
                </c:pt>
                <c:pt idx="13">
                  <c:v>17</c:v>
                </c:pt>
                <c:pt idx="14">
                  <c:v>19</c:v>
                </c:pt>
                <c:pt idx="15">
                  <c:v>22.5</c:v>
                </c:pt>
                <c:pt idx="16">
                  <c:v>27.5</c:v>
                </c:pt>
                <c:pt idx="17">
                  <c:v>32.5</c:v>
                </c:pt>
                <c:pt idx="18">
                  <c:v>37.5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938-43B5-83B5-A28C15DA12DB}"/>
            </c:ext>
          </c:extLst>
        </c:ser>
        <c:ser>
          <c:idx val="2"/>
          <c:order val="2"/>
          <c:tx>
            <c:strRef>
              <c:f>Inlets_isotopes!$X$10</c:f>
              <c:strCache>
                <c:ptCount val="1"/>
                <c:pt idx="0">
                  <c:v>TerrCrate (gC/m2/yr)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square"/>
            <c:size val="5"/>
            <c:spPr>
              <a:solidFill>
                <a:schemeClr val="accent2">
                  <a:lumMod val="50000"/>
                </a:schemeClr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Inlets_isotopes!$X$55:$X$73</c:f>
              <c:numCache>
                <c:formatCode>0.00</c:formatCode>
                <c:ptCount val="19"/>
                <c:pt idx="0">
                  <c:v>127.86552867472146</c:v>
                </c:pt>
                <c:pt idx="1">
                  <c:v>182.15776451903324</c:v>
                </c:pt>
                <c:pt idx="2">
                  <c:v>113.20097129752853</c:v>
                </c:pt>
                <c:pt idx="3">
                  <c:v>111.47093364378652</c:v>
                </c:pt>
                <c:pt idx="4">
                  <c:v>122.74953757809841</c:v>
                </c:pt>
                <c:pt idx="5">
                  <c:v>117.41935044876216</c:v>
                </c:pt>
                <c:pt idx="6">
                  <c:v>122.06804457572461</c:v>
                </c:pt>
                <c:pt idx="7">
                  <c:v>120.71525203627235</c:v>
                </c:pt>
                <c:pt idx="8">
                  <c:v>123.35368458573532</c:v>
                </c:pt>
                <c:pt idx="9">
                  <c:v>122.93647593243055</c:v>
                </c:pt>
                <c:pt idx="10">
                  <c:v>129.94002108402043</c:v>
                </c:pt>
                <c:pt idx="11">
                  <c:v>125.2587379880697</c:v>
                </c:pt>
                <c:pt idx="12">
                  <c:v>168.867184648651</c:v>
                </c:pt>
                <c:pt idx="13">
                  <c:v>118.33939752857228</c:v>
                </c:pt>
                <c:pt idx="14">
                  <c:v>179.25258854722489</c:v>
                </c:pt>
                <c:pt idx="15">
                  <c:v>129.18767261679383</c:v>
                </c:pt>
                <c:pt idx="16">
                  <c:v>109.23228661737049</c:v>
                </c:pt>
                <c:pt idx="17">
                  <c:v>60.449953775216393</c:v>
                </c:pt>
                <c:pt idx="18">
                  <c:v>43.707195888922357</c:v>
                </c:pt>
              </c:numCache>
            </c:numRef>
          </c:xVal>
          <c:yVal>
            <c:numRef>
              <c:f>Inlets_isotopes!$Y$55:$Y$73</c:f>
              <c:numCache>
                <c:formatCode>General</c:formatCode>
                <c:ptCount val="19"/>
                <c:pt idx="0">
                  <c:v>0.5</c:v>
                </c:pt>
                <c:pt idx="1">
                  <c:v>1.5</c:v>
                </c:pt>
                <c:pt idx="2">
                  <c:v>2.5</c:v>
                </c:pt>
                <c:pt idx="3">
                  <c:v>3.5</c:v>
                </c:pt>
                <c:pt idx="4">
                  <c:v>4.5</c:v>
                </c:pt>
                <c:pt idx="5">
                  <c:v>5.5</c:v>
                </c:pt>
                <c:pt idx="6">
                  <c:v>6.5</c:v>
                </c:pt>
                <c:pt idx="7">
                  <c:v>7.5</c:v>
                </c:pt>
                <c:pt idx="8">
                  <c:v>8.5</c:v>
                </c:pt>
                <c:pt idx="9">
                  <c:v>9.5</c:v>
                </c:pt>
                <c:pt idx="10">
                  <c:v>11</c:v>
                </c:pt>
                <c:pt idx="11">
                  <c:v>13</c:v>
                </c:pt>
                <c:pt idx="12">
                  <c:v>15</c:v>
                </c:pt>
                <c:pt idx="13">
                  <c:v>17</c:v>
                </c:pt>
                <c:pt idx="14">
                  <c:v>19</c:v>
                </c:pt>
                <c:pt idx="15">
                  <c:v>22.5</c:v>
                </c:pt>
                <c:pt idx="16">
                  <c:v>27.5</c:v>
                </c:pt>
                <c:pt idx="17">
                  <c:v>32.5</c:v>
                </c:pt>
                <c:pt idx="18">
                  <c:v>37.5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938-43B5-83B5-A28C15DA12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481695"/>
        <c:axId val="101483135"/>
      </c:scatterChart>
      <c:valAx>
        <c:axId val="101481695"/>
        <c:scaling>
          <c:orientation val="minMax"/>
          <c:min val="0"/>
        </c:scaling>
        <c:delete val="0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 dirty="0"/>
                  <a:t>C</a:t>
                </a:r>
                <a:r>
                  <a:rPr lang="en-US" b="1" baseline="0" dirty="0"/>
                  <a:t>arbon </a:t>
                </a:r>
                <a:r>
                  <a:rPr lang="en-US" b="1" dirty="0"/>
                  <a:t>flux (</a:t>
                </a:r>
                <a:r>
                  <a:rPr lang="en-US" b="1" dirty="0" err="1"/>
                  <a:t>gC</a:t>
                </a:r>
                <a:r>
                  <a:rPr lang="en-US" b="1" dirty="0"/>
                  <a:t> m</a:t>
                </a:r>
                <a:r>
                  <a:rPr lang="en-US" b="1" baseline="30000" dirty="0"/>
                  <a:t>-2</a:t>
                </a:r>
                <a:r>
                  <a:rPr lang="en-US" b="1" dirty="0"/>
                  <a:t> y</a:t>
                </a:r>
                <a:r>
                  <a:rPr lang="en-US" b="1" baseline="30000" dirty="0"/>
                  <a:t>r-1</a:t>
                </a:r>
                <a:r>
                  <a:rPr lang="en-US" b="1" dirty="0"/>
                  <a:t>)</a:t>
                </a:r>
              </a:p>
            </c:rich>
          </c:tx>
          <c:layout>
            <c:manualLayout>
              <c:xMode val="edge"/>
              <c:yMode val="edge"/>
              <c:x val="0.1364969792958497"/>
              <c:y val="0.1175729504031611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cross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483135"/>
        <c:crosses val="autoZero"/>
        <c:crossBetween val="midCat"/>
      </c:valAx>
      <c:valAx>
        <c:axId val="101483135"/>
        <c:scaling>
          <c:orientation val="maxMin"/>
        </c:scaling>
        <c:delete val="0"/>
        <c:axPos val="l"/>
        <c:numFmt formatCode="General" sourceLinked="1"/>
        <c:majorTickMark val="cross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481695"/>
        <c:crosses val="autoZero"/>
        <c:crossBetween val="midCat"/>
        <c:majorUnit val="1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E47C-EDC4-4487-A97C-EA1C324EFB5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A740-2BD9-4F79-9E0E-7494777A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690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E47C-EDC4-4487-A97C-EA1C324EFB5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A740-2BD9-4F79-9E0E-7494777A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02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E47C-EDC4-4487-A97C-EA1C324EFB5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A740-2BD9-4F79-9E0E-7494777A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56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E47C-EDC4-4487-A97C-EA1C324EFB5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A740-2BD9-4F79-9E0E-7494777A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22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E47C-EDC4-4487-A97C-EA1C324EFB5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A740-2BD9-4F79-9E0E-7494777A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77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E47C-EDC4-4487-A97C-EA1C324EFB5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A740-2BD9-4F79-9E0E-7494777A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64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E47C-EDC4-4487-A97C-EA1C324EFB5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A740-2BD9-4F79-9E0E-7494777A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207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E47C-EDC4-4487-A97C-EA1C324EFB5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A740-2BD9-4F79-9E0E-7494777A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70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E47C-EDC4-4487-A97C-EA1C324EFB5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A740-2BD9-4F79-9E0E-7494777A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870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E47C-EDC4-4487-A97C-EA1C324EFB5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A740-2BD9-4F79-9E0E-7494777A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182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E47C-EDC4-4487-A97C-EA1C324EFB5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A740-2BD9-4F79-9E0E-7494777A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13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31E47C-EDC4-4487-A97C-EA1C324EFB5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47A740-2BD9-4F79-9E0E-7494777A646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58A227-9AE6-03BD-90B0-EBBB4EC7D73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129213" y="63500"/>
            <a:ext cx="1700212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Unclassified - Non-Classifié</a:t>
            </a:r>
          </a:p>
        </p:txBody>
      </p:sp>
    </p:spTree>
    <p:extLst>
      <p:ext uri="{BB962C8B-B14F-4D97-AF65-F5344CB8AC3E}">
        <p14:creationId xmlns:p14="http://schemas.microsoft.com/office/powerpoint/2010/main" val="1541378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47A3A-90C3-3A97-E13E-CD98D9389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3A8A9-33A4-24A2-5DAC-83B88EACD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745" y="6594179"/>
            <a:ext cx="4335952" cy="994172"/>
          </a:xfrm>
        </p:spPr>
        <p:txBody>
          <a:bodyPr>
            <a:norm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 Sediment core location maps.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 dots: New cores collected in 2022-2025, under PSSI and MCT programs. Red dots indicate existing cores, which will be used to provide context for the new cores.</a:t>
            </a:r>
          </a:p>
        </p:txBody>
      </p:sp>
      <p:pic>
        <p:nvPicPr>
          <p:cNvPr id="4" name="Picture 3" descr="A map of the coast of the pacific ocean&#10;&#10;AI-generated content may be incorrect.">
            <a:extLst>
              <a:ext uri="{FF2B5EF4-FFF2-40B4-BE49-F238E27FC236}">
                <a16:creationId xmlns:a16="http://schemas.microsoft.com/office/drawing/2014/main" id="{43A7EDA5-E60E-C124-EC76-EE8A4BA5404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5070" y="2052735"/>
            <a:ext cx="3077946" cy="3237897"/>
          </a:xfrm>
          <a:prstGeom prst="rect">
            <a:avLst/>
          </a:prstGeom>
        </p:spPr>
      </p:pic>
      <p:pic>
        <p:nvPicPr>
          <p:cNvPr id="6" name="Picture 5" descr="A map of the coast of the pacific ocean&#10;&#10;AI-generated content may be incorrect.">
            <a:extLst>
              <a:ext uri="{FF2B5EF4-FFF2-40B4-BE49-F238E27FC236}">
                <a16:creationId xmlns:a16="http://schemas.microsoft.com/office/drawing/2014/main" id="{9EDDFA7D-B1B6-DB6E-AF55-BA889C535B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62721" y="3053070"/>
            <a:ext cx="3188241" cy="223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65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6D508A0-C972-5956-BDFA-2DBEBCB0F8AE}"/>
              </a:ext>
            </a:extLst>
          </p:cNvPr>
          <p:cNvGrpSpPr/>
          <p:nvPr/>
        </p:nvGrpSpPr>
        <p:grpSpPr>
          <a:xfrm>
            <a:off x="290285" y="1553029"/>
            <a:ext cx="5965372" cy="3222172"/>
            <a:chOff x="290285" y="1553029"/>
            <a:chExt cx="5965372" cy="3222172"/>
          </a:xfrm>
        </p:grpSpPr>
        <p:graphicFrame>
          <p:nvGraphicFramePr>
            <p:cNvPr id="3" name="Chart 2">
              <a:extLst>
                <a:ext uri="{FF2B5EF4-FFF2-40B4-BE49-F238E27FC236}">
                  <a16:creationId xmlns:a16="http://schemas.microsoft.com/office/drawing/2014/main" id="{C434D50E-73B8-204F-176F-47AF14E466A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17226627"/>
                </p:ext>
              </p:extLst>
            </p:nvPr>
          </p:nvGraphicFramePr>
          <p:xfrm>
            <a:off x="290285" y="1663608"/>
            <a:ext cx="3844918" cy="304938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4" name="Chart 3">
              <a:extLst>
                <a:ext uri="{FF2B5EF4-FFF2-40B4-BE49-F238E27FC236}">
                  <a16:creationId xmlns:a16="http://schemas.microsoft.com/office/drawing/2014/main" id="{A6E04E14-5BA4-4538-89E7-5825B4F6CF7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843925362"/>
                </p:ext>
              </p:extLst>
            </p:nvPr>
          </p:nvGraphicFramePr>
          <p:xfrm>
            <a:off x="4135204" y="1553029"/>
            <a:ext cx="2120453" cy="322217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2FC4599-4095-BE35-3C5C-5D9EEF1F0E55}"/>
                </a:ext>
              </a:extLst>
            </p:cNvPr>
            <p:cNvSpPr txBox="1"/>
            <p:nvPr/>
          </p:nvSpPr>
          <p:spPr>
            <a:xfrm>
              <a:off x="2748079" y="2723264"/>
              <a:ext cx="1481601" cy="126828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Marine bloom flux</a:t>
              </a:r>
            </a:p>
            <a:p>
              <a:endParaRPr lang="en-US" dirty="0"/>
            </a:p>
            <a:p>
              <a:r>
                <a:rPr lang="en-US" sz="1200" dirty="0"/>
                <a:t>Marine non-bloom flux</a:t>
              </a:r>
            </a:p>
            <a:p>
              <a:endParaRPr lang="en-US" dirty="0"/>
            </a:p>
            <a:p>
              <a:r>
                <a:rPr lang="en-US" sz="1200" dirty="0"/>
                <a:t>Terrigenous flux</a:t>
              </a:r>
            </a:p>
            <a:p>
              <a:endParaRPr lang="en-US" sz="1200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CB98511-4AE3-EFD6-AD53-3DE5754EA625}"/>
              </a:ext>
            </a:extLst>
          </p:cNvPr>
          <p:cNvSpPr txBox="1"/>
          <p:nvPr/>
        </p:nvSpPr>
        <p:spPr>
          <a:xfrm>
            <a:off x="754743" y="5805714"/>
            <a:ext cx="594470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2. Fluxes of marine-bloom, marine-non-bloom and terrigenous organic carbon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a) Roscoe and b) Knight Inlets.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the x-axis scale (carbon flux) for Knight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Inlet  is 20 times as high as that for Roscoe Inlet.  “Marine” represents mainly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phytoplankton-derived organic matter. “Bloom” represents organic matter produced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conditions of  high productivity, with a short food chain, while “non-bloom”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low productivity and a long food chain. The oldest material is at the bottom of the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cores, with time progressing toward the surface. Due to the different sedimentation rates,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Knight Inlet core represents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about 45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years, while the Roscoe core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about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270 years.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9F7C9E-E417-ECA5-6589-5A719D5D0E58}"/>
              </a:ext>
            </a:extLst>
          </p:cNvPr>
          <p:cNvSpPr txBox="1"/>
          <p:nvPr/>
        </p:nvSpPr>
        <p:spPr>
          <a:xfrm>
            <a:off x="1727200" y="4712994"/>
            <a:ext cx="3558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(a)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C3D706-3E33-7DFC-A50A-072AC805503D}"/>
              </a:ext>
            </a:extLst>
          </p:cNvPr>
          <p:cNvSpPr txBox="1"/>
          <p:nvPr/>
        </p:nvSpPr>
        <p:spPr>
          <a:xfrm>
            <a:off x="5013329" y="4712994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323531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C374DCBC74724F8F9F44A4072F6AF4" ma:contentTypeVersion="15" ma:contentTypeDescription="Create a new document." ma:contentTypeScope="" ma:versionID="6b8805a1b0743e175fd13f66dd395df7">
  <xsd:schema xmlns:xsd="http://www.w3.org/2001/XMLSchema" xmlns:xs="http://www.w3.org/2001/XMLSchema" xmlns:p="http://schemas.microsoft.com/office/2006/metadata/properties" xmlns:ns2="b86e46b4-8cb4-4c9b-af91-82a4fe689175" xmlns:ns3="4ea98688-c254-4620-a63b-978b805c7ea0" targetNamespace="http://schemas.microsoft.com/office/2006/metadata/properties" ma:root="true" ma:fieldsID="71283a69954235b0ea5e31879caacbc8" ns2:_="" ns3:_="">
    <xsd:import namespace="b86e46b4-8cb4-4c9b-af91-82a4fe689175"/>
    <xsd:import namespace="4ea98688-c254-4620-a63b-978b805c7e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e46b4-8cb4-4c9b-af91-82a4fe6891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6cca27c4-1c34-4d50-97f2-be840b0de0b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a98688-c254-4620-a63b-978b805c7ea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86e46b4-8cb4-4c9b-af91-82a4fe68917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DFC91C5-1F8A-48CB-98CB-DBD3EBD4111C}"/>
</file>

<file path=customXml/itemProps2.xml><?xml version="1.0" encoding="utf-8"?>
<ds:datastoreItem xmlns:ds="http://schemas.openxmlformats.org/officeDocument/2006/customXml" ds:itemID="{B26D92DE-4495-4648-B758-F6B729A48B9A}"/>
</file>

<file path=customXml/itemProps3.xml><?xml version="1.0" encoding="utf-8"?>
<ds:datastoreItem xmlns:ds="http://schemas.openxmlformats.org/officeDocument/2006/customXml" ds:itemID="{B12641A9-EED0-40F1-87CE-093E6A70451D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</TotalTime>
  <Words>208</Words>
  <Application>Microsoft Office PowerPoint</Application>
  <PresentationFormat>Letter Paper (8.5x11 in)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Times New Roman</vt:lpstr>
      <vt:lpstr>Office Theme</vt:lpstr>
      <vt:lpstr>Figure 1. Sediment core location maps. Blue dots: New cores collected in 2022-2025, under PSSI and MCT programs. Red dots indicate existing cores, which will be used to provide context for the new cores.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Johannessen, Sophia (DFO/MPO)</dc:creator>
  <cp:lastModifiedBy>Johannessen, Sophia (DFO/MPO)</cp:lastModifiedBy>
  <cp:revision>1</cp:revision>
  <dcterms:created xsi:type="dcterms:W3CDTF">2026-01-26T21:56:39Z</dcterms:created>
  <dcterms:modified xsi:type="dcterms:W3CDTF">2026-01-26T23:34:40Z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e6cdb53-fd15-486d-84de-c510e3a62203_Enabled">
    <vt:lpwstr>true</vt:lpwstr>
  </property>
  <property fmtid="{D5CDD505-2E9C-101B-9397-08002B2CF9AE}" pid="3" name="MSIP_Label_4e6cdb53-fd15-486d-84de-c510e3a62203_SetDate">
    <vt:lpwstr>2026-01-26T22:01:47Z</vt:lpwstr>
  </property>
  <property fmtid="{D5CDD505-2E9C-101B-9397-08002B2CF9AE}" pid="4" name="MSIP_Label_4e6cdb53-fd15-486d-84de-c510e3a62203_Method">
    <vt:lpwstr>Standard</vt:lpwstr>
  </property>
  <property fmtid="{D5CDD505-2E9C-101B-9397-08002B2CF9AE}" pid="5" name="MSIP_Label_4e6cdb53-fd15-486d-84de-c510e3a62203_Name">
    <vt:lpwstr>UNCLASSIFIED - NON-CLASSIFIÉ</vt:lpwstr>
  </property>
  <property fmtid="{D5CDD505-2E9C-101B-9397-08002B2CF9AE}" pid="6" name="MSIP_Label_4e6cdb53-fd15-486d-84de-c510e3a62203_SiteId">
    <vt:lpwstr>1594fdae-a1d9-4405-915d-011467234338</vt:lpwstr>
  </property>
  <property fmtid="{D5CDD505-2E9C-101B-9397-08002B2CF9AE}" pid="7" name="MSIP_Label_4e6cdb53-fd15-486d-84de-c510e3a62203_ActionId">
    <vt:lpwstr>d2677c8c-91b5-4e91-9151-2f931e0d2d79</vt:lpwstr>
  </property>
  <property fmtid="{D5CDD505-2E9C-101B-9397-08002B2CF9AE}" pid="8" name="MSIP_Label_4e6cdb53-fd15-486d-84de-c510e3a62203_ContentBits">
    <vt:lpwstr>1</vt:lpwstr>
  </property>
  <property fmtid="{D5CDD505-2E9C-101B-9397-08002B2CF9AE}" pid="9" name="MSIP_Label_4e6cdb53-fd15-486d-84de-c510e3a62203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Unclassified - Non-Classifié</vt:lpwstr>
  </property>
  <property fmtid="{D5CDD505-2E9C-101B-9397-08002B2CF9AE}" pid="12" name="ContentTypeId">
    <vt:lpwstr>0x01010061C374DCBC74724F8F9F44A4072F6AF4</vt:lpwstr>
  </property>
</Properties>
</file>